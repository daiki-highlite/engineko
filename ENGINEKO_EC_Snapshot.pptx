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B85042"/>
            </a:solidFill>
            <a:ln w="2794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12/29</c:v>
                  </c:pt>
                  <c:pt idx="1">
                    <c:v>1/05</c:v>
                  </c:pt>
                  <c:pt idx="2">
                    <c:v>1/12</c:v>
                  </c:pt>
                  <c:pt idx="3">
                    <c:v>1/19</c:v>
                  </c:pt>
                  <c:pt idx="4">
                    <c:v>1/26</c:v>
                  </c:pt>
                  <c:pt idx="5">
                    <c:v>2/02</c:v>
                  </c:pt>
                  <c:pt idx="6">
                    <c:v>2/09</c:v>
                  </c:pt>
                  <c:pt idx="7">
                    <c:v>2/16</c:v>
                  </c:pt>
                  <c:pt idx="8">
                    <c:v>2/23</c:v>
                  </c:pt>
                  <c:pt idx="9">
                    <c:v>3/02</c:v>
                  </c:pt>
                  <c:pt idx="10">
                    <c:v>3/09</c:v>
                  </c:pt>
                  <c:pt idx="11">
                    <c:v>3/16</c:v>
                  </c:pt>
                  <c:pt idx="12">
                    <c:v>3/23</c:v>
                  </c:pt>
                  <c:pt idx="13">
                    <c:v>3/30</c:v>
                  </c:pt>
                  <c:pt idx="14">
                    <c:v>4/06</c:v>
                  </c:pt>
                  <c:pt idx="15">
                    <c:v>4/13</c:v>
                  </c:pt>
                  <c:pt idx="16">
                    <c:v>4/20</c:v>
                  </c:pt>
                  <c:pt idx="17">
                    <c:v>4/27</c:v>
                  </c:pt>
                  <c:pt idx="18">
                    <c:v>5/04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23</c:v>
                </c:pt>
                <c:pt idx="1">
                  <c:v>0</c:v>
                </c:pt>
                <c:pt idx="2">
                  <c:v>0</c:v>
                </c:pt>
                <c:pt idx="3">
                  <c:v>113</c:v>
                </c:pt>
                <c:pt idx="4">
                  <c:v>183</c:v>
                </c:pt>
                <c:pt idx="5">
                  <c:v>45</c:v>
                </c:pt>
                <c:pt idx="6">
                  <c:v>18</c:v>
                </c:pt>
                <c:pt idx="7">
                  <c:v>26</c:v>
                </c:pt>
                <c:pt idx="8">
                  <c:v>17</c:v>
                </c:pt>
                <c:pt idx="9">
                  <c:v>21</c:v>
                </c:pt>
                <c:pt idx="10">
                  <c:v>31</c:v>
                </c:pt>
                <c:pt idx="11">
                  <c:v>45</c:v>
                </c:pt>
                <c:pt idx="12">
                  <c:v>41</c:v>
                </c:pt>
                <c:pt idx="13">
                  <c:v>34</c:v>
                </c:pt>
                <c:pt idx="14">
                  <c:v>50</c:v>
                </c:pt>
                <c:pt idx="15">
                  <c:v>27</c:v>
                </c:pt>
                <c:pt idx="16">
                  <c:v>30</c:v>
                </c:pt>
                <c:pt idx="17">
                  <c:v>14</c:v>
                </c:pt>
                <c:pt idx="18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Japan</c:v>
                  </c:pt>
                  <c:pt idx="1">
                    <c:v>United States</c:v>
                  </c:pt>
                  <c:pt idx="2">
                    <c:v>Germany</c:v>
                  </c:pt>
                  <c:pt idx="3">
                    <c:v>Sweden</c:v>
                  </c:pt>
                  <c:pt idx="4">
                    <c:v>Finland</c:v>
                  </c:pt>
                  <c:pt idx="5">
                    <c:v>China</c:v>
                  </c:pt>
                  <c:pt idx="6">
                    <c:v>France</c:v>
                  </c:pt>
                  <c:pt idx="7">
                    <c:v>Canada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255</c:v>
                </c:pt>
                <c:pt idx="1">
                  <c:v>84</c:v>
                </c:pt>
                <c:pt idx="2">
                  <c:v>16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B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Device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1A1A"/>
              </a:solidFill>
              <a:effectLst/>
            </c:spPr>
          </c:dPt>
          <c:dPt>
            <c:idx val="1"/>
            <c:bubble3D val="0"/>
            <c:spPr>
              <a:solidFill>
                <a:srgbClr val="B85042"/>
              </a:solidFill>
              <a:effectLst/>
            </c:spPr>
          </c:dPt>
          <c:dPt>
            <c:idx val="2"/>
            <c:bubble3D val="0"/>
            <c:spPr>
              <a:solidFill>
                <a:srgbClr val="8A837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Tablet/Other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231</c:v>
                </c:pt>
                <c:pt idx="1">
                  <c:v>153</c:v>
                </c:pt>
                <c:pt idx="2">
                  <c:v>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F3B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109728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engineko.com
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 アクセス &amp; ストア状況サマリー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2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2026.05.06   ·   過去90日 / 累計180日   ·   prepared by Daiki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C2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SESSIONS (90d)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96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≈4.3 / 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C2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RATE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0.26%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5212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96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Plan目標 0.3-0.6%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C2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¥46,167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5852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96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Plan目標 ¥55,000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6217920"/>
            <a:ext cx="10881360" cy="10973"/>
          </a:xfrm>
          <a:prstGeom prst="rect">
            <a:avLst/>
          </a:prstGeom>
          <a:solidFill>
            <a:srgbClr val="3A352F"/>
          </a:solidFill>
          <a:ln w="12700">
            <a:solidFill>
              <a:srgbClr val="3A352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4415" cy="10973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  ·  EC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2026.05.06   ·   2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結論：ローンチ後の余熱で持っているフェーズ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23042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ローンチ直後にピーク、以降は減衰曲線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1/19週113 → 1/26週183（180日合計の41%が2週間に集中）。直近5/4週は4セッションに失速。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06640" y="23042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カート→購入の離脱が深刻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セッション388 → カート追加 8（2.06%）→ 完了 1（0.26%）。Plan目標 CVR 0.3-0.6% を下回る。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486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37360" y="4407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想定以上に海外比率が高い（34%）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JP 66% / US 22% / DE・SE・FI・FR の順で続く。EUR/USD表示・ENサイト整備の機会損失。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06640" y="4407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流入の82%がdirect、SEO/SNSは未稼働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5074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計測UTM未整備のためdirectに集約。プレス・名刺経由の口コミ依存。獲得チャネル設計が次の一手。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4415" cy="10973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  ·  EC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2026.05.06   ·   3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SNAPSHOT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Shopifyストアの基本構成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02920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PROFILE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2B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engineko.com  ·  official@engineko.com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Basic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Timezone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Asia/Tokyo (JST)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Japan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5440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Active / 公開中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210312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103120"/>
            <a:ext cx="54864" cy="1920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商品 (ACTIVE)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25603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7220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TSURIME-MUKU 予約販売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15400" y="210312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2103120"/>
            <a:ext cx="54864" cy="1920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コレクション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0" y="25603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14400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Model：NEKO / Recommended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429768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4297680"/>
            <a:ext cx="54864" cy="1920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登録顧客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47548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17220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うち購入経験あり 3名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15400" y="429768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15400" y="4297680"/>
            <a:ext cx="54864" cy="1920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購入完了 (90d)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0" y="47548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914400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1月のローンチ時に2件・累計3件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4415" cy="10973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  ·  EC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2026.05.06   ·   4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TREND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180日のセッション推移：ローンチ・スパイク後に低位安定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54864" cy="1234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180D SESSIONS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全期間の累計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6432" y="205740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2057400"/>
            <a:ext cx="54864" cy="1234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90D SESSIONS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85032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685032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≈4.3 / 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64224" y="205740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2057400"/>
            <a:ext cx="54864" cy="1234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92824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WEEK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92824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592824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1/26週・全体の25%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72016" y="205740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2057400"/>
            <a:ext cx="54864" cy="1234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0616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LATEST WEEK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00616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500616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5/4週（要警戒）</a:t>
            </a:r>
            <a:endParaRPr lang="en-US" sz="10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48640" y="3611880"/>
          <a:ext cx="11064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4415" cy="10973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  ·  EC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2026.05.06   ·   5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FUNNEL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カート→購入の離脱が最大ボトルネック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09728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9631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496312"/>
            <a:ext cx="4608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388  ·  100%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94560" y="3154680"/>
            <a:ext cx="7772400" cy="640080"/>
          </a:xfrm>
          <a:prstGeom prst="rect">
            <a:avLst/>
          </a:prstGeom>
          <a:solidFill>
            <a:srgbClr val="2D2A26"/>
          </a:solidFill>
          <a:ln w="12700">
            <a:solidFill>
              <a:srgbClr val="2D2A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3273552"/>
            <a:ext cx="4274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 Additions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69380" y="3273552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  ·  2.06%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3931920"/>
            <a:ext cx="5486400" cy="640080"/>
          </a:xfrm>
          <a:prstGeom prst="rect">
            <a:avLst/>
          </a:prstGeom>
          <a:solidFill>
            <a:srgbClr val="3F3B36"/>
          </a:solidFill>
          <a:ln w="12700">
            <a:solidFill>
              <a:srgbClr val="3F3B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40507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Reached Checkout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405079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  ·  1.80%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4709160"/>
            <a:ext cx="320040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828032"/>
            <a:ext cx="1760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Purchase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0780" y="482803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  ·  0.26%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F5F2ED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v2 KPI 照合：</a:t>
            </a:r>
            <a:pPr indent="0" marL="0">
              <a:buNone/>
            </a:pPr>
            <a:r>
              <a:rPr lang="en-US" sz="11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カート投入 </a:t>
            </a:r>
            <a:pPr indent="0" marL="0">
              <a:buNone/>
            </a:pPr>
            <a:r>
              <a:rPr lang="en-US" sz="1100" b="1" dirty="0">
                <a:solidFill>
                  <a:srgbClr val="5C7A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2.06% ◯</a:t>
            </a:r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（目標 2-3%）   ·   </a:t>
            </a:r>
            <a:pPr indent="0" marL="0">
              <a:buNone/>
            </a:pPr>
            <a:r>
              <a:rPr lang="en-US" sz="11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 CVR </a:t>
            </a:r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0.26% ✕</a:t>
            </a:r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（目標 0.3-0.6%）   ·   </a:t>
            </a:r>
            <a:pPr indent="0" marL="0">
              <a:buNone/>
            </a:pPr>
            <a:r>
              <a:rPr lang="en-US" sz="11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AOV </a:t>
            </a:r>
            <a:pPr indent="0" marL="0">
              <a:buNone/>
            </a:pPr>
            <a:r>
              <a:rPr lang="en-US" sz="1100" b="1" dirty="0">
                <a:solidFill>
                  <a:srgbClr val="C68B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¥46,167 △</a:t>
            </a:r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（目標 ¥55,000）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4415" cy="10973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  ·  EC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2026.05.06   ·   6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国別・デバイス別の構成：海外34%、Desktop偏重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国別セッション (90d)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377440"/>
          <a:ext cx="5852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67512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デバイス別セッション (90d)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675120" y="237744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675120" y="5623560"/>
            <a:ext cx="5029200" cy="868680"/>
          </a:xfrm>
          <a:prstGeom prst="rect">
            <a:avLst/>
          </a:prstGeom>
          <a:solidFill>
            <a:srgbClr val="F5F2ED"/>
          </a:solidFill>
          <a:ln w="9525">
            <a:solidFill>
              <a:srgbClr val="E0DAD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12280" y="56692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 </a:t>
            </a:r>
            <a:pPr indent="0" marL="0">
              <a:buNone/>
            </a:pPr>
            <a:r>
              <a:rPr lang="en-US" sz="100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高単価品らしくDesktop比率60%。一般D2Cの逆傾向で、PC吟味型・法人/プレス経由の流入を示唆。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4415" cy="10973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  ·  EC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2026.05.06   ·   7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SOURCES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流入の82%がdirect — 計測と獲得チャネル設計が未整備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2194560"/>
            <a:ext cx="6858000" cy="457200"/>
          </a:xfrm>
          <a:prstGeom prst="rect">
            <a:avLst/>
          </a:prstGeom>
          <a:solidFill>
            <a:srgbClr val="F5F2ED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2194560"/>
            <a:ext cx="562356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22219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317 sessions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65176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URL直打ち / プレス記事 / 名刺 / untaggedリンク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3017520"/>
            <a:ext cx="6858000" cy="457200"/>
          </a:xfrm>
          <a:prstGeom prst="rect">
            <a:avLst/>
          </a:prstGeom>
          <a:solidFill>
            <a:srgbClr val="F5F2ED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3017520"/>
            <a:ext cx="8229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30449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46 sessions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4747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Google等の検索流入。SEO投資ゼロでこの数字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3840480"/>
            <a:ext cx="6858000" cy="457200"/>
          </a:xfrm>
          <a:prstGeom prst="rect">
            <a:avLst/>
          </a:prstGeom>
          <a:solidFill>
            <a:srgbClr val="F5F2ED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3840480"/>
            <a:ext cx="3429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4580" y="38679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 sessions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42976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IG/Twitter等。実数はもっと多い可能性（UTM未付与）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0240" y="4663440"/>
            <a:ext cx="6858000" cy="457200"/>
          </a:xfrm>
          <a:prstGeom prst="rect">
            <a:avLst/>
          </a:prstGeom>
          <a:solidFill>
            <a:srgbClr val="F5F2ED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4663440"/>
            <a:ext cx="182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46908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0" y="46817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sessions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51206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Klaviyo/Shopify Email未稼働。ハウスリスト活用余地大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5440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0240" y="5486400"/>
            <a:ext cx="6858000" cy="457200"/>
          </a:xfrm>
          <a:prstGeom prst="rect">
            <a:avLst/>
          </a:prstGeom>
          <a:solidFill>
            <a:srgbClr val="F5F2ED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5486400"/>
            <a:ext cx="182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55138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61120" y="5504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3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sessions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20240" y="594360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識別不能。多くはアプリ内ブラウザ等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4415" cy="10973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  ·  EC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2026.05.06   ·   8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BENCHMARK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v2 目標値との照合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1828800"/>
                <a:gridCol w="1737360"/>
                <a:gridCol w="34747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指標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Plan v2 目標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実績 (90d)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評価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注釈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カート投入率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2 - 3 %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2.06 %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7A5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◯ 達成下限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A8378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ぎりぎり目標内。改善余地は十分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EC CVR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0.3 - 0.6 %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0.26 %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✕ 未達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A8378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Cart→Checkout→Purchase で大量離脱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AOV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¥55,000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¥46,167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68B3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△ 微減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A8378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¥28,500の1件が引き下げ。サンプル価か割引?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流入チャネル分散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Direct/SEO/SNS均衡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Direct 82%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✕ 偏在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A8378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SEO/SNSが未稼働。UTM運用も未整備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国際比率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EN/EU 戦略あり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3B36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海外 34%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7A5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◎ 想定上振れ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8A8378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US/EUR表示・ENサイト整備で取り逃し回収可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3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実績は2026/02/05 - 05/06 の90日間。注文情報は read_orders 権限拡張で要再集計。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4415" cy="10973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ENGINEKO  ·  EC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2026.05.06   ·   9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ACTIONS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次の打ち手・優先順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219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チェックアウト離脱(8→1)を解剖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read_all_orders 権限を取得し、放棄7件の決済画面ログを精査。配送料/関税/銀行振込の阻害要因を特定。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Daiki / 5月中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1064240" cy="7315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35808"/>
            <a:ext cx="5486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9900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直近週の失速を止める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3558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Klaviyoまたは Shopify Email でハウスリスト（顧客8 + 登録のみ5）にニュース配信。SNSも併走。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78408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Daiki / 今週中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64240" cy="7315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77056"/>
            <a:ext cx="5486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044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83133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流入計測の整備（UTM）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1970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IG / Press / Newsletter / Email の4枠でUTM規約を作成。Direct 82%を分解できる状態に。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84080" y="3922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Daiki / 5月中旬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90288"/>
            <a:ext cx="11064240" cy="7315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18304"/>
            <a:ext cx="5486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457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46725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EN/Markets展開の前倒し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503834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海外34%（US 22% + EU 12%）の取り逃しを防ぐ。EN copy + USD/EUR 表示 + 国別決済整備。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84080" y="47640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Daiki / 6月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431536"/>
            <a:ext cx="11064240" cy="7315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559552"/>
            <a:ext cx="548640" cy="457200"/>
          </a:xfrm>
          <a:prstGeom prst="rect">
            <a:avLst/>
          </a:prstGeom>
          <a:solidFill>
            <a:srgbClr val="8A8378"/>
          </a:solidFill>
          <a:ln w="12700">
            <a:solidFill>
              <a:srgbClr val="8A83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58698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80160" y="551383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ローンチ第二波の設計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5879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B3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TSURIME-MUKU 続編 / Model別 / ギフト箱を v2 プランに沿って投入。PR + Klaviyo + SNS の同時打ち上げ。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784080" y="5605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Daiki / Q3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ENGINEKO EC Snapshot</dc:title>
  <dc:subject>PptxGenJS Presentation</dc:subject>
  <dc:creator>Daiki / ENGINEKO</dc:creator>
  <cp:lastModifiedBy>Daiki / ENGINEKO</cp:lastModifiedBy>
  <cp:revision>1</cp:revision>
  <dcterms:created xsi:type="dcterms:W3CDTF">2026-05-06T03:43:29Z</dcterms:created>
  <dcterms:modified xsi:type="dcterms:W3CDTF">2026-05-06T03:43:29Z</dcterms:modified>
</cp:coreProperties>
</file>