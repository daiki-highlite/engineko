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11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EN—I SEI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System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77240" y="3383280"/>
            <a:ext cx="457200" cy="0"/>
          </a:xfrm>
          <a:prstGeom prst="line">
            <a:avLst/>
          </a:prstGeom>
          <a:noFill/>
          <a:ln w="6350">
            <a:solidFill>
              <a:srgbClr val="AAA5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520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59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ENGINEKO 会員階位制設計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0" y="46405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v2.1   ·   2026—05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    出発点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ポイント制ではなく、階位制を採る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「貯める」動機ではなく、「授かる」動機で設計する。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1965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18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Rank (proposed)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176272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6771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昇格条件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2267712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59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累積購買額・回数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360" y="2267712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所有年数 + 縁を結ぶ行為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642616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8833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報酬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688336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59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値引き・特典の交換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2688336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名前・物・動線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06324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896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動機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310896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59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短期 CVR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108960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長期帰属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483864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2958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離脱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3529584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59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失効するポイント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3529584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失う名前と場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904488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9502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ブランド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48840" y="3950208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59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毀損する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950208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強化する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325112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    設計の二軸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宗教モデル × クレジットカードモデル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時間で授ける（宗教）と物理で表現する（クレカ）── 両取りで立体化する。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Religious / Craft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時間と修練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36576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結縁灌頂・茶道許状・家元制度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段位制・修験道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金銭で買えない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通過儀礼で記憶を作る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名前が報酬になる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 Card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2651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素材と動線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800600" y="3246120"/>
            <a:ext cx="36576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Amex Centurion / JCB The Class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Diners Premium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触れた瞬間に階位が伝わる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並ばないこと自体が報酬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招待だけが扉になる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    階位構成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4 階位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時間と関与で授かる。最上位は招待制。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0" cy="201168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初回購入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41788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88920" y="2423160"/>
            <a:ext cx="0" cy="201168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834640" y="3063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2608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60日 + ライブ2回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41788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2ヶ月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0" cy="201168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00600" y="3063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9204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1年 + 巡礼 or 上位購入 or 紹介1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41788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1.5年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423160"/>
            <a:ext cx="0" cy="2011680"/>
          </a:xfrm>
          <a:prstGeom prst="line">
            <a:avLst/>
          </a:prstGeom>
          <a:noFill/>
          <a:ln w="12700">
            <a:solidFill>
              <a:srgbClr val="1C18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766560" y="3063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CUSTODIAN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招待 + 紹介1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41788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4–6年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" y="44622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物理アーティファクトの階梯：紙 — 青銅 — 銘入りの器 — 一点物。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    階位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971800" y="1143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8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9718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57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縁の入口。器を手にした、その瞬間に。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ENGINEKO の器を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初めて購入。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自動付与。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74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ARTIFACT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7749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74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楮紙の結縁証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（手書き墨書 ＋ 窯番号）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桐板の封筒に納める。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77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774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77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LINE 招待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月次 1230℃ Live 視聴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JOURNAL 進呈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779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7799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79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結縁の儀。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器とは別便で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結縁証が届く。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370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7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あなたの器の窯番号は、永久に記録される。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05    階位 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971800" y="1143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8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9718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57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縁の場に、足を入れる。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FRIEND から 60 日 ＋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月次 1230℃ Live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 回の視聴。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74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ARTIFACT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7749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74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青銅の封蝋スタンプ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（縁の印）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 冊目以降の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JOURNAL 配本。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77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774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77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同窯衆ネットワーク認識：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あなたの器の同窯衆は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現在○名 と告知。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779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7799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79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入縁の儀。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60 日経過時に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入縁状が届く。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370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7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「居ること」だけで上がる ── プッシュではない。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06    階位 III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971800" y="1143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8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9718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57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縁を深める三つの選択肢。どれか一つで届く。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PATRON から 1 年 ＋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下のいずれか一つ：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巡礼 1回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上位エディション 1点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紹介 1件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74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ARTIFACT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7749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74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信楽土の盃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（非売・縁名刻印）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所有する器に職人銘＋縁名を彫刻（希望者）。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77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774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77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季節巡礼の優先予約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atelier@ 直通窓口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+1 家族登録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年次「縁の会」招待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779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77990" y="2862072"/>
            <a:ext cx="274320" cy="0"/>
          </a:xfrm>
          <a:prstGeom prst="line">
            <a:avLst/>
          </a:prstGeom>
          <a:noFill/>
          <a:ln w="9525">
            <a:solidFill>
              <a:srgbClr val="1C18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79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縁名授与の儀。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好きな漢字 3 つを送り、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職人が 1 文字を選んで授ける。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370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7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隠れ特典：年 1 回、職人が個別に選んだ作品が届く（非公表）。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AA59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    階位 IV   ─   最上位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AAA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971800" y="1143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CUSTODIAN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9718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59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申し込めない。推挙されて、初めて至る。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7589520" cy="0"/>
          </a:xfrm>
          <a:prstGeom prst="line">
            <a:avLst/>
          </a:prstGeom>
          <a:noFill/>
          <a:ln w="6350">
            <a:solidFill>
              <a:srgbClr val="7A7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274320" cy="0"/>
          </a:xfrm>
          <a:prstGeom prst="line">
            <a:avLst/>
          </a:prstGeom>
          <a:noFill/>
          <a:ln w="9525">
            <a:solidFill>
              <a:srgbClr val="AAA5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既存メンバーからの推挙。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＋ 紹介 1件以上。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広告も告知もしない。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74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ARTIFACT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77490" y="2862072"/>
            <a:ext cx="274320" cy="0"/>
          </a:xfrm>
          <a:prstGeom prst="line">
            <a:avLst/>
          </a:prstGeom>
          <a:noFill/>
          <a:ln w="9525">
            <a:solidFill>
              <a:srgbClr val="AAA5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74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一点物作品の贈呈。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桐箱に納め、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家紋風の刻印を添える。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774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7740" y="2862072"/>
            <a:ext cx="274320" cy="0"/>
          </a:xfrm>
          <a:prstGeom prst="line">
            <a:avLst/>
          </a:prstGeom>
          <a:noFill/>
          <a:ln w="9525">
            <a:solidFill>
              <a:srgbClr val="AAA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774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職人 LINE 直通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JOURNAL 寄稿権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巡礼時の朝食同卓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作風相談会への陪席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77990" y="26060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77990" y="2862072"/>
            <a:ext cx="274320" cy="0"/>
          </a:xfrm>
          <a:prstGeom prst="line">
            <a:avLst/>
          </a:prstGeom>
          <a:noFill/>
          <a:ln w="9525">
            <a:solidFill>
              <a:srgbClr val="AAA5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7990" y="3017520"/>
            <a:ext cx="15887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推挙の儀。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年次「縁の会」で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推挙が行われる。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工房で一夜を過ごす。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370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59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Amex Centurion 型 ── 申し込めないこと、それ自体が特典。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59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08    クレカ流の追加設計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階位を立体化する 5 つの仕掛け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Amex Centurion / JCB The Class / Diners Premium の体験設計を、ポイント加算抜きで借りる。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084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Surprise Invitation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3408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招待のサプライズ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11880" y="2121408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昇位は招待状で届く。応募フォームは作らない。届くこと自体が儀礼。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786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Demotion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降格は設計しない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2596896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クレカと逆行する判断。長期信頼を選び、短期エンゲージは捨てる。沈黙には職人の手紙で応答する。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035808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5409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035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Plus-One Family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91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+1 家族登録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11880" y="3072384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STEWARD 以上は家族 1 名を「縁の家族」に。同時視聴と巡礼同伴を共有。昇位は本人のみ。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511296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2958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112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Lane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767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専用動線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3547872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巡礼予約は通常フォームを通らず職人アシスタント直送。問い合わせは atelier@ 直通。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3986784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0507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Benefit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2428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隠れ特典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4023360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サイトにも JOURNAL にも載せない、昇位後に初めて知る特典。神秘性を保つ装置。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09    ブランド哲学との整合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「押さない、消さない」と両立する 6 条件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v1 は「ランク制＝短期 CVR 最適化＝ブランド毀損」と整理した。階位制はその式に当てはまらない。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2468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金銭で買えない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468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昇位は時間・参加・紹介・推挙のみ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52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割引でなく素材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報酬は名前と物的アーティファクト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218688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369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236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儀礼を伴う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3236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昇位ごとに所作を固定する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602736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210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6210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マウントできない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3621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SNS バッジ化しない、内部の縁のみ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986784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05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005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降格しない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60520" y="40050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クレカと逆行、長期信頼を選ぶ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370832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89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17320" y="4389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明文化しない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4389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隠れ特典で外への神秘性を守る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80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Patience, not points.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A59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縁は、時間で深まる。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7589520" cy="0"/>
          </a:xfrm>
          <a:prstGeom prst="line">
            <a:avLst/>
          </a:prstGeom>
          <a:noFill/>
          <a:ln w="6350">
            <a:solidFill>
              <a:srgbClr val="7A7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2461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" y="34015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" y="3639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49424" y="32461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746504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63624" y="34015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63624" y="3639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2ヶ月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26280" y="32461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4015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639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1.5年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321040" y="32461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34015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CUSTODIAN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3639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4–6年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90 DAYS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370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創始者の人格化   ／   結縁証フォーマット確定   ／   素材階梯（青銅・盃）試作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   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81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階位別の達成条件と特典 ｜ 仮置き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達成条件は仮置き ── Instagram フォロー定義／年間紹介数／Special Edition の定義は別途要確定。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1C18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CONDITION (TENTATIVE)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57800" y="2011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2258568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4597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377440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Instagram フォロー、もしくは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イベント来場。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2377440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楮紙の結縁証 ＋ 桐板封筒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LINE 招待 ／ JOURNAL 創刊号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月次 1230℃ Live 視聴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852928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29626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8803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ENGINEKO 購入者・予約者、もしくは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年間購入紹介者 5 名以上。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28803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青銅の封蝋スタンプ（縁の印）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JOURNAL 継続配本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同窯衆ネットワーク可視化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401568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5112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429000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ENGINEKO 2 点以上の購入者、もしくは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年間購入紹介者 5 名以上。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429000"/>
            <a:ext cx="3108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信楽土の盃 ＋ 縁名授与（漢字一文字）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季節巡礼優先予約 ／ atelier@ 直通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+1 家族登録 ／「縁の会」招待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隠れ特典：年 1 回、職人選作（非公表）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4087368"/>
            <a:ext cx="7589520" cy="0"/>
          </a:xfrm>
          <a:prstGeom prst="line">
            <a:avLst/>
          </a:prstGeom>
          <a:noFill/>
          <a:ln w="6350">
            <a:solidFill>
              <a:srgbClr val="E2DC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14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41970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CUSTODIAN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4114800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Special Edition 購入者、もしくは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C18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年間紹介 10 名以上。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4114800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一点物作品 ＋ 桐箱（家紋風刻印）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職人 LINE 直通 ／ JOURNAL 寄稿権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A252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· 巡礼朝食同卓 ／ 作風相談会陪席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ENGINEKO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52360" y="47320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5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Rank System (En-i sei) — ENGINEKO</dc:title>
  <dc:subject>PptxGenJS Presentation</dc:subject>
  <dc:creator>ENGINEKO</dc:creator>
  <cp:lastModifiedBy>ENGINEKO</cp:lastModifiedBy>
  <cp:revision>1</cp:revision>
  <dcterms:created xsi:type="dcterms:W3CDTF">2026-05-14T09:00:05Z</dcterms:created>
  <dcterms:modified xsi:type="dcterms:W3CDTF">2026-05-14T09:00:05Z</dcterms:modified>
</cp:coreProperties>
</file>